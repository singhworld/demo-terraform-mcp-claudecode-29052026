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6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8DF6FB-9ACA-470E-BAFE-8F9863E5953B}" v="39" dt="2026-05-28T02:38:26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raj Singh" userId="ebb3560a-49c8-4fe6-88be-cab19d206209" providerId="ADAL" clId="{61DE5220-E41B-45DA-B74E-167A1F9548F3}"/>
    <pc:docChg chg="undo custSel addSld delSld modSld sldOrd">
      <pc:chgData name="Balraj Singh" userId="ebb3560a-49c8-4fe6-88be-cab19d206209" providerId="ADAL" clId="{61DE5220-E41B-45DA-B74E-167A1F9548F3}" dt="2026-05-28T02:40:58.399" v="681" actId="6549"/>
      <pc:docMkLst>
        <pc:docMk/>
      </pc:docMkLst>
      <pc:sldChg chg="addSp delSp modSp mod">
        <pc:chgData name="Balraj Singh" userId="ebb3560a-49c8-4fe6-88be-cab19d206209" providerId="ADAL" clId="{61DE5220-E41B-45DA-B74E-167A1F9548F3}" dt="2026-05-27T23:47:35.665" v="344" actId="12385"/>
        <pc:sldMkLst>
          <pc:docMk/>
          <pc:sldMk cId="0" sldId="272"/>
        </pc:sldMkLst>
        <pc:spChg chg="mod">
          <ac:chgData name="Balraj Singh" userId="ebb3560a-49c8-4fe6-88be-cab19d206209" providerId="ADAL" clId="{61DE5220-E41B-45DA-B74E-167A1F9548F3}" dt="2026-05-27T23:36:45.998" v="65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7T23:36:49.198" v="66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7T23:36:55.371" v="104" actId="1036"/>
          <ac:spMkLst>
            <pc:docMk/>
            <pc:sldMk cId="0" sldId="272"/>
            <ac:spMk id="5" creationId="{00000000-0000-0000-0000-000000000000}"/>
          </ac:spMkLst>
        </pc:spChg>
        <pc:spChg chg="del mod">
          <ac:chgData name="Balraj Singh" userId="ebb3560a-49c8-4fe6-88be-cab19d206209" providerId="ADAL" clId="{61DE5220-E41B-45DA-B74E-167A1F9548F3}" dt="2026-05-27T23:36:05.544" v="59" actId="478"/>
          <ac:spMkLst>
            <pc:docMk/>
            <pc:sldMk cId="0" sldId="272"/>
            <ac:spMk id="6" creationId="{00000000-0000-0000-0000-000000000000}"/>
          </ac:spMkLst>
        </pc:spChg>
        <pc:graphicFrameChg chg="add mod modGraphic">
          <ac:chgData name="Balraj Singh" userId="ebb3560a-49c8-4fe6-88be-cab19d206209" providerId="ADAL" clId="{61DE5220-E41B-45DA-B74E-167A1F9548F3}" dt="2026-05-27T23:47:35.665" v="344" actId="12385"/>
          <ac:graphicFrameMkLst>
            <pc:docMk/>
            <pc:sldMk cId="0" sldId="272"/>
            <ac:graphicFrameMk id="8" creationId="{D365D20E-B05A-A977-8DBA-A9600EC5D093}"/>
          </ac:graphicFrameMkLst>
        </pc:graphicFrameChg>
      </pc:sldChg>
      <pc:sldChg chg="modSp mod ord">
        <pc:chgData name="Balraj Singh" userId="ebb3560a-49c8-4fe6-88be-cab19d206209" providerId="ADAL" clId="{61DE5220-E41B-45DA-B74E-167A1F9548F3}" dt="2026-05-26T23:32:25.599" v="7" actId="1076"/>
        <pc:sldMkLst>
          <pc:docMk/>
          <pc:sldMk cId="0" sldId="273"/>
        </pc:sldMkLst>
        <pc:spChg chg="mod">
          <ac:chgData name="Balraj Singh" userId="ebb3560a-49c8-4fe6-88be-cab19d206209" providerId="ADAL" clId="{61DE5220-E41B-45DA-B74E-167A1F9548F3}" dt="2026-05-26T23:32:11.617" v="4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6T23:32:16.444" v="5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6T23:32:25.599" v="7" actId="107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Balraj Singh" userId="ebb3560a-49c8-4fe6-88be-cab19d206209" providerId="ADAL" clId="{61DE5220-E41B-45DA-B74E-167A1F9548F3}" dt="2026-05-26T23:32:21.223" v="6" actId="1076"/>
          <ac:spMkLst>
            <pc:docMk/>
            <pc:sldMk cId="0" sldId="273"/>
            <ac:spMk id="32" creationId="{00000000-0000-0000-0000-000000000000}"/>
          </ac:spMkLst>
        </pc:spChg>
      </pc:sldChg>
      <pc:sldChg chg="modSp add mod">
        <pc:chgData name="Balraj Singh" userId="ebb3560a-49c8-4fe6-88be-cab19d206209" providerId="ADAL" clId="{61DE5220-E41B-45DA-B74E-167A1F9548F3}" dt="2026-05-28T02:40:58.399" v="681" actId="6549"/>
        <pc:sldMkLst>
          <pc:docMk/>
          <pc:sldMk cId="3715516981" sldId="274"/>
        </pc:sldMkLst>
        <pc:spChg chg="mod">
          <ac:chgData name="Balraj Singh" userId="ebb3560a-49c8-4fe6-88be-cab19d206209" providerId="ADAL" clId="{61DE5220-E41B-45DA-B74E-167A1F9548F3}" dt="2026-05-27T23:41:38.656" v="241" actId="14100"/>
          <ac:spMkLst>
            <pc:docMk/>
            <pc:sldMk cId="3715516981" sldId="274"/>
            <ac:spMk id="3" creationId="{6B1C514B-B70A-CD7E-3233-DBE09070D6EF}"/>
          </ac:spMkLst>
        </pc:spChg>
        <pc:spChg chg="mod">
          <ac:chgData name="Balraj Singh" userId="ebb3560a-49c8-4fe6-88be-cab19d206209" providerId="ADAL" clId="{61DE5220-E41B-45DA-B74E-167A1F9548F3}" dt="2026-05-27T23:41:43.504" v="242" actId="1076"/>
          <ac:spMkLst>
            <pc:docMk/>
            <pc:sldMk cId="3715516981" sldId="274"/>
            <ac:spMk id="4" creationId="{A1392743-2E8C-B4F5-5B66-D39449455816}"/>
          </ac:spMkLst>
        </pc:spChg>
        <pc:spChg chg="mod">
          <ac:chgData name="Balraj Singh" userId="ebb3560a-49c8-4fe6-88be-cab19d206209" providerId="ADAL" clId="{61DE5220-E41B-45DA-B74E-167A1F9548F3}" dt="2026-05-27T23:41:51.110" v="259" actId="1036"/>
          <ac:spMkLst>
            <pc:docMk/>
            <pc:sldMk cId="3715516981" sldId="274"/>
            <ac:spMk id="5" creationId="{B64729F2-249F-2C13-3D23-5B6CFB19CEC8}"/>
          </ac:spMkLst>
        </pc:spChg>
        <pc:spChg chg="mod">
          <ac:chgData name="Balraj Singh" userId="ebb3560a-49c8-4fe6-88be-cab19d206209" providerId="ADAL" clId="{61DE5220-E41B-45DA-B74E-167A1F9548F3}" dt="2026-05-28T02:40:58.399" v="681" actId="6549"/>
          <ac:spMkLst>
            <pc:docMk/>
            <pc:sldMk cId="3715516981" sldId="274"/>
            <ac:spMk id="6" creationId="{FA6FF5E9-DB59-43FD-24CC-C3C83052CD3F}"/>
          </ac:spMkLst>
        </pc:spChg>
      </pc:sldChg>
      <pc:sldChg chg="delSp modSp add mod">
        <pc:chgData name="Balraj Singh" userId="ebb3560a-49c8-4fe6-88be-cab19d206209" providerId="ADAL" clId="{61DE5220-E41B-45DA-B74E-167A1F9548F3}" dt="2026-05-27T23:51:28.505" v="365" actId="1076"/>
        <pc:sldMkLst>
          <pc:docMk/>
          <pc:sldMk cId="2346578347" sldId="275"/>
        </pc:sldMkLst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2" creationId="{92A86F4C-3A8A-4833-342E-02AE57BFD583}"/>
          </ac:spMkLst>
        </pc:spChg>
        <pc:spChg chg="mod">
          <ac:chgData name="Balraj Singh" userId="ebb3560a-49c8-4fe6-88be-cab19d206209" providerId="ADAL" clId="{61DE5220-E41B-45DA-B74E-167A1F9548F3}" dt="2026-05-27T23:51:28.505" v="365" actId="1076"/>
          <ac:spMkLst>
            <pc:docMk/>
            <pc:sldMk cId="2346578347" sldId="275"/>
            <ac:spMk id="3" creationId="{44FD1024-C679-FDDD-0F62-885E0E597B25}"/>
          </ac:spMkLst>
        </pc:spChg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4" creationId="{8AF1D212-0AD9-0C89-D8EA-CBDDA74FED26}"/>
          </ac:spMkLst>
        </pc:spChg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5" creationId="{61B2BAEC-9A1A-A65C-471F-731E1E74CCF9}"/>
          </ac:spMkLst>
        </pc:spChg>
        <pc:spChg chg="del">
          <ac:chgData name="Balraj Singh" userId="ebb3560a-49c8-4fe6-88be-cab19d206209" providerId="ADAL" clId="{61DE5220-E41B-45DA-B74E-167A1F9548F3}" dt="2026-05-27T23:49:48.487" v="349" actId="478"/>
          <ac:spMkLst>
            <pc:docMk/>
            <pc:sldMk cId="2346578347" sldId="275"/>
            <ac:spMk id="6" creationId="{EBAB9BAA-2273-802A-5A6F-ABCA1EEC2DF5}"/>
          </ac:spMkLst>
        </pc:spChg>
        <pc:spChg chg="mod">
          <ac:chgData name="Balraj Singh" userId="ebb3560a-49c8-4fe6-88be-cab19d206209" providerId="ADAL" clId="{61DE5220-E41B-45DA-B74E-167A1F9548F3}" dt="2026-05-27T23:51:21.794" v="364" actId="1036"/>
          <ac:spMkLst>
            <pc:docMk/>
            <pc:sldMk cId="2346578347" sldId="275"/>
            <ac:spMk id="7" creationId="{95B64770-26A0-C79C-37BE-07725003F915}"/>
          </ac:spMkLst>
        </pc:spChg>
      </pc:sldChg>
      <pc:sldChg chg="add del setBg">
        <pc:chgData name="Balraj Singh" userId="ebb3560a-49c8-4fe6-88be-cab19d206209" providerId="ADAL" clId="{61DE5220-E41B-45DA-B74E-167A1F9548F3}" dt="2026-05-27T23:49:13.304" v="347" actId="2696"/>
        <pc:sldMkLst>
          <pc:docMk/>
          <pc:sldMk cId="0" sldId="276"/>
        </pc:sldMkLst>
      </pc:sldChg>
      <pc:sldChg chg="addSp delSp modSp add mod">
        <pc:chgData name="Balraj Singh" userId="ebb3560a-49c8-4fe6-88be-cab19d206209" providerId="ADAL" clId="{61DE5220-E41B-45DA-B74E-167A1F9548F3}" dt="2026-05-28T02:40:37.095" v="671" actId="207"/>
        <pc:sldMkLst>
          <pc:docMk/>
          <pc:sldMk cId="2899190600" sldId="276"/>
        </pc:sldMkLst>
        <pc:spChg chg="mod">
          <ac:chgData name="Balraj Singh" userId="ebb3560a-49c8-4fe6-88be-cab19d206209" providerId="ADAL" clId="{61DE5220-E41B-45DA-B74E-167A1F9548F3}" dt="2026-05-28T02:28:22.488" v="383" actId="20577"/>
          <ac:spMkLst>
            <pc:docMk/>
            <pc:sldMk cId="2899190600" sldId="276"/>
            <ac:spMk id="3" creationId="{C6CC1475-FB2C-3ECB-A92B-F6303B121C20}"/>
          </ac:spMkLst>
        </pc:spChg>
        <pc:spChg chg="add del mod">
          <ac:chgData name="Balraj Singh" userId="ebb3560a-49c8-4fe6-88be-cab19d206209" providerId="ADAL" clId="{61DE5220-E41B-45DA-B74E-167A1F9548F3}" dt="2026-05-28T02:40:07.641" v="662" actId="1076"/>
          <ac:spMkLst>
            <pc:docMk/>
            <pc:sldMk cId="2899190600" sldId="276"/>
            <ac:spMk id="4" creationId="{C7D33C2F-F4CC-2CD6-D268-B6A449C7A0E8}"/>
          </ac:spMkLst>
        </pc:spChg>
        <pc:spChg chg="add del">
          <ac:chgData name="Balraj Singh" userId="ebb3560a-49c8-4fe6-88be-cab19d206209" providerId="ADAL" clId="{61DE5220-E41B-45DA-B74E-167A1F9548F3}" dt="2026-05-28T02:28:48.802" v="389" actId="478"/>
          <ac:spMkLst>
            <pc:docMk/>
            <pc:sldMk cId="2899190600" sldId="276"/>
            <ac:spMk id="5" creationId="{0095C597-F1D8-A6FF-215D-1347CD20F94E}"/>
          </ac:spMkLst>
        </pc:spChg>
        <pc:spChg chg="mod">
          <ac:chgData name="Balraj Singh" userId="ebb3560a-49c8-4fe6-88be-cab19d206209" providerId="ADAL" clId="{61DE5220-E41B-45DA-B74E-167A1F9548F3}" dt="2026-05-28T02:40:37.095" v="671" actId="207"/>
          <ac:spMkLst>
            <pc:docMk/>
            <pc:sldMk cId="2899190600" sldId="276"/>
            <ac:spMk id="6" creationId="{1418FF77-03B9-CD0D-6DD9-C2481BC132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59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ind-core.com/blogs/claude-code-vs-github-copilot-real-difference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Primary Difference (The Core Idea)</a:t>
            </a:r>
          </a:p>
          <a:p>
            <a:r>
              <a:rPr lang="en-AU" b="1" dirty="0"/>
              <a:t>GitHub Copilot</a:t>
            </a:r>
            <a:r>
              <a:rPr lang="en-AU" dirty="0"/>
              <a:t> is a suggestion engine that predicts the next line of code based on what you're typing and presents it for you to accept or reject, while </a:t>
            </a:r>
            <a:r>
              <a:rPr lang="en-AU" b="1" dirty="0"/>
              <a:t>Claude Code</a:t>
            </a:r>
            <a:r>
              <a:rPr lang="en-AU" dirty="0"/>
              <a:t> is an agentic system that reads your entire codebase, plans what needs to be done, executes changes across multiple files, and iterates on its own. </a:t>
            </a:r>
            <a:r>
              <a:rPr lang="en-AU" dirty="0">
                <a:hlinkClick r:id="rId3"/>
              </a:rPr>
              <a:t>Mind-core</a:t>
            </a:r>
            <a:endParaRPr lang="en-AU" dirty="0"/>
          </a:p>
          <a:p>
            <a:r>
              <a:rPr lang="en-AU" dirty="0"/>
              <a:t>Think of it this way:</a:t>
            </a:r>
          </a:p>
          <a:p>
            <a:r>
              <a:rPr lang="en-AU" b="1" dirty="0"/>
              <a:t>Copilot</a:t>
            </a:r>
            <a:r>
              <a:rPr lang="en-AU" dirty="0"/>
              <a:t> = A helpful autocomplete that speeds up your typing (line-by-line help)</a:t>
            </a:r>
          </a:p>
          <a:p>
            <a:r>
              <a:rPr lang="en-AU" b="1" dirty="0"/>
              <a:t>Claude Code</a:t>
            </a:r>
            <a:r>
              <a:rPr lang="en-AU" dirty="0"/>
              <a:t> = A junior engineer that understands your whole project and can tackle bigger tasks (full project tasks)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2F391-588B-B222-56A0-6B2018DB4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2FE84-0002-8479-D44A-5856FDE9B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57F0C-C9E7-F550-272E-DFD0A25A1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4D7B2-B9E0-3888-825B-C816ABFA4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788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29D1-EDA9-5B92-7869-67F54BF3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EF7AA-EE0C-D988-F4E8-34B34426F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B136C-F19C-F0CD-FF37-1A9A7C73C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FA058-5A64-E9B5-BA28-7AC271A1C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27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3AE6-4EC6-D4FE-EB8C-A2B75840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A5D07-85E3-A493-A9C5-37DC5DD24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82549-F3E7-8A25-FDC0-87EAB33BE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5D587-15BE-606E-09DC-D0225FC5C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3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kills" TargetMode="External"/><Relationship Id="rId3" Type="http://schemas.openxmlformats.org/officeDocument/2006/relationships/hyperlink" Target="https://developer.hashicorp.com/terraform/tutorials/sandbox" TargetMode="External"/><Relationship Id="rId7" Type="http://schemas.openxmlformats.org/officeDocument/2006/relationships/hyperlink" Target="https://learngitbranching.js.or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zure.microsoft.com/en-au/free/" TargetMode="External"/><Relationship Id="rId5" Type="http://schemas.openxmlformats.org/officeDocument/2006/relationships/hyperlink" Target="https://cloud.google.com/free" TargetMode="External"/><Relationship Id="rId4" Type="http://schemas.openxmlformats.org/officeDocument/2006/relationships/hyperlink" Target="https://aws.amazon.com/free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256032" y="2834640"/>
            <a:ext cx="8887968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kern="0" spc="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Team Knowledge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035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Files  ·  Hidden Directories  ·  Core Commands  ·  Claude Code + MCP + NVIDIA NIM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 |  Infrastructure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56032" y="11704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1234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151790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concept and why it matters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63440" y="11704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85232" y="1234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 Types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85232" y="151790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.tf files and their purpose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9293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256032" y="1929384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56032" y="19293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19933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 &amp; Folders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" y="227685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.terraform/  ·  .lock.hcl  ·  tfstate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9293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663440" y="1929384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663440" y="19293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19933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Create Them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85232" y="227685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init, plan, apply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68833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256032" y="2688336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256032" y="2688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27523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Terraform Workflow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7824" y="303580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68833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50292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663440" y="2688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5232" y="27523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&amp; .gitignore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85232" y="303580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 and what to exclude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44728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256032" y="3447288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256032" y="34472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" y="35112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MCP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77824" y="37947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Terraform with MCP protocol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4728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4663440" y="3447288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4663440" y="34472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35112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MCP Server (uv)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85232" y="37947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MCP server setup and tools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20624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256032" y="4206240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256032" y="42062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77824" y="4270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Proxy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77824" y="45537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 layer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20624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4663440" y="4206240"/>
            <a:ext cx="502920" cy="6583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4663440" y="42062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85232" y="4270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Integration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85232" y="45537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MCP + Claude Code + NIM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38912" y="12070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Infrastructure as Code tool by HashiCorp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664208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declarative HCL (HashiCorp Configuration Language) — you describe WHAT you want, Terraform figures out HOW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cloud resources on AWS, Azure, GCP, and 1,000+ providers via plugins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state file to know what infrastructure currently exists vs what is desired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previewed safely before any real infrastructure is touched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config lives in version control — auditable, reviewable, repeatable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1170432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5577840" y="1170432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715000" y="1243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resources in .tf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066544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577840" y="2066544"/>
            <a:ext cx="64008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715000" y="21396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24505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changes — no impact yet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962656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5577840" y="2962656"/>
            <a:ext cx="6400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71500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33467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 cloud infrastructure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858768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577840" y="3858768"/>
            <a:ext cx="64008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71500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4242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managed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FILE TYPES —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2519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56616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517904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resource definitions. Where you declare cloud resources, data sources, locals, and module calls. Entry point of every config.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51960" cy="3657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837176" y="1115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1517904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 declarations. Defines parameters the config accepts — name, type, description, default, and validation rules.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28600" y="2414016"/>
            <a:ext cx="42519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56616" y="24140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" y="2816352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 declarations. Exports values after apply — resource IDs, IPs, connection strings — for use by humans or other modules.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41401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709160" y="2414016"/>
            <a:ext cx="425196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837176" y="24140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18888" y="2816352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values file. Assigns actual values to declared variables. Auto-loaded by Terraform. Never put secrets here.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71246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228600" y="3712464"/>
            <a:ext cx="4251960" cy="3657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356616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" y="4114800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configuration. Tells Terraform where to store the state file — Azure Blob, S3, Terraform Cloud, etc.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71246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251960" cy="3657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837176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18888" y="4114800"/>
            <a:ext cx="4050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constraints. Pins the Terraform binary version and provider plugin versions for team reproducibility.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.tf FILES — CODE EXAMPLES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4160520" cy="3794760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47472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17904"/>
            <a:ext cx="3950208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Resource block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"azurerm_resource_group" "rg"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var.rg_name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= var.location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= local.tags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 call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"networking"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= "../modules/net"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= var.environment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= var.location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source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"azurerm_subscription" "current" {}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= var.environment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managed_by  = "terraform"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078992"/>
            <a:ext cx="4251960" cy="3794760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251960" cy="3840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736592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  +  outputs.tf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8304" y="1517904"/>
            <a:ext cx="4041648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variables.tf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"Deployment environment"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"dev"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= contains(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["dev", "staging", "prod"],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var.environment)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"Must be dev, staging, or prod."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"location"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"Azure region"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"australiaeast"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outputs.tf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"resource_group_id"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"Resource Group ID"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azurerm_resource_group.rg.id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VERSIONS · TFVARS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2852928" cy="4023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9260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"azurerm"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resource_group_name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"rg-tfstate-prod"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storage_account_name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"stterraformstate"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"tfstate"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"prod/network/tf.tfstate"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use_azuread_auth =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264408" y="1115568"/>
            <a:ext cx="2852928" cy="402336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35584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required_version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"&gt;= 1.5.0"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required_providers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azurerm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"hashicorp/azurerm"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3.90"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"hashicorp/random"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3.5"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27648" y="1115568"/>
            <a:ext cx="2852928" cy="3730752"/>
          </a:xfrm>
          <a:prstGeom prst="rect">
            <a:avLst/>
          </a:prstGeom>
          <a:solidFill>
            <a:srgbClr val="1E2735"/>
          </a:solidFill>
          <a:ln w="12700">
            <a:solidFill>
              <a:srgbClr val="1E27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327648" y="1115568"/>
            <a:ext cx="2852928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419088" y="111556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91056"/>
            <a:ext cx="268833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= "prod"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"australiaeast"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rg_name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"rg-platform-prod"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log_retention_days = 90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NEVER put secrets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this file!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Key Vault 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CI/CD environment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 instead.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 &amp; FOLDERS — AUTO-CREATED BY TERRAFORM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NEVER written by hand — Terraform creates them automatically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64008" cy="164592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819656"/>
            <a:ext cx="1572768" cy="23774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11480" y="18196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init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directory in your working folder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downloaded provider plugin binaries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copies of remote modules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.gitignore — never commit this folder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64008" cy="1645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92040" y="14904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92040" y="1819656"/>
            <a:ext cx="1572768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92040" y="18196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init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dependency lock file (like package-lock.json)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exact provider versions and checksums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committed to source control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team member uses identical provider versions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218688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28600" y="3218688"/>
            <a:ext cx="64008" cy="1645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1572768" cy="23774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11480" y="36210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apply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real state of deployed infrastructure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Terraform resource names to actual cloud resource IDs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remotely via backend.tf in team environments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sensitive data — NEVER commit to git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218688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4709160" y="3218688"/>
            <a:ext cx="64008" cy="1645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892040" y="3291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terraform.tfstate.backup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3621024"/>
            <a:ext cx="1572768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892040" y="36210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terraform apply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93192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file — saved automatically before each apply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inspection if something goes wrong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same sensitivity as terraform.tfstate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excluded from git via .gitignore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CREATE HIDDEN 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331720" cy="118872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207008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   and   .terraform.lock.hcl
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 plugins into .terraform/providers/  ·  Downloads modules into .terraform/modules/  ·  Writes exact provider version checksums into .terraform.lock.hcl  ·  Run once per project, re-run when providers or modules change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414016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274320" y="2414016"/>
            <a:ext cx="2331720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" y="2414016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505456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tfplan  (binary plan file — optional flag)
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current state + compares to your config  ·  Shows what would be created (+), changed (~), or destroyed (-)  ·  Does NOT touch real infrastructure  ·  Saving with -out=tfplan allows a safe apply without re-planning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12464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74320" y="3712464"/>
            <a:ext cx="233172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47472" y="3712464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3803904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Creates: </a:t>
            </a: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   and   terraform.tfstate.backup
</a:t>
            </a: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or updates real cloud infrastructure  ·  Writes the new state to terraform.tfstate  ·  Saves the previous state as terraform.tfstate.backup automatically  ·  Will prompt for confirmation unless -auto-approve is passed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COMMANDS — CHEAT SHEET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54864" cy="66751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74904" y="1179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207008"/>
            <a:ext cx="1170432" cy="21031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154680" y="120700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74904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working directory — downloads providers and modules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54864" cy="6675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09744" y="11795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1207008"/>
            <a:ext cx="1170432" cy="2103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589520" y="120700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09744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all .tf files to canonical HCL style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89280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228600" y="1892808"/>
            <a:ext cx="54864" cy="6675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74904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1984248"/>
            <a:ext cx="1170432" cy="2103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3154680" y="198424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74904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configuration syntax without connecting to cloud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89280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663440" y="1892808"/>
            <a:ext cx="54864" cy="6675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809744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1984248"/>
            <a:ext cx="1170432" cy="2103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589520" y="198424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CHANGES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9744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changes would be made — infrastructure is NOT touched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6700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228600" y="2670048"/>
            <a:ext cx="54864" cy="66751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374904" y="2734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-out=tfplan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2761488"/>
            <a:ext cx="1170432" cy="21031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154680" y="276148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490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plan to a file for later apply or audit purposes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67004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4663440" y="2670048"/>
            <a:ext cx="54864" cy="6675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4809744" y="273405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89520" y="2761488"/>
            <a:ext cx="1170432" cy="210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7589520" y="276148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9744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infrastructure changes — prompts for confirmation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44728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228600" y="3447288"/>
            <a:ext cx="54864" cy="6675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374904" y="35112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tfplan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54680" y="3538728"/>
            <a:ext cx="1170432" cy="2103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3154680" y="353872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74904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previously saved plan file — no confirmation prompt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44728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4663440" y="3447288"/>
            <a:ext cx="54864" cy="6675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4809744" y="351129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89520" y="3538728"/>
            <a:ext cx="1170432" cy="2103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7589520" y="353872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CAREFUL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09744" y="3813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ALL infrastructure managed by this state file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422452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228600" y="4224528"/>
            <a:ext cx="54864" cy="6675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374904" y="4288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output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154680" y="4315968"/>
            <a:ext cx="1170432" cy="2103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3154680" y="431596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74904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all output values from the current state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4224528"/>
            <a:ext cx="42062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9" name="Shape 57"/>
          <p:cNvSpPr/>
          <p:nvPr/>
        </p:nvSpPr>
        <p:spPr>
          <a:xfrm>
            <a:off x="4663440" y="4224528"/>
            <a:ext cx="54864" cy="6675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58"/>
          <p:cNvSpPr/>
          <p:nvPr/>
        </p:nvSpPr>
        <p:spPr>
          <a:xfrm>
            <a:off x="4809744" y="42885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0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589520" y="4315968"/>
            <a:ext cx="1170432" cy="2103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60"/>
          <p:cNvSpPr/>
          <p:nvPr/>
        </p:nvSpPr>
        <p:spPr>
          <a:xfrm>
            <a:off x="7589520" y="4315968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09744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resources tracked in the state file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WORKFLOW — STEP BY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011680" cy="8412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98755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8755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providers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modules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.terraform/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.lock.hcl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771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45059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450592" y="1115568"/>
            <a:ext cx="2011680" cy="84124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18211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18211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2374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4203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254203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.tf files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HCL syntax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calls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6227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64515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645152" y="1115568"/>
            <a:ext cx="2011680" cy="8412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537667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37667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1830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73659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 file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+ add / ~ change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- destroy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safe!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56832" y="2990088"/>
            <a:ext cx="173736" cy="0"/>
          </a:xfrm>
          <a:prstGeom prst="line">
            <a:avLst/>
          </a:prstGeom>
          <a:noFill/>
          <a:ln w="317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839712" y="111556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6839712" y="1115568"/>
            <a:ext cx="201168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7571232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757123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12864" y="177393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31152" y="2048256"/>
            <a:ext cx="1828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6931152" y="204825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67728" y="2615184"/>
            <a:ext cx="17922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resources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tfstate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.backup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or auto-approve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final step:  terraform destroy  — tears down ALL managed infrastructure  (use with extreme caution in production)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.gitignore — COMMIT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20624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20624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00507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 plugins — machine specific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files — contain secrets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terraform.tfstate.backup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*.tfstate.*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Saved plan files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tfplan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*.tfplan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Auto-loaded var files (may have secrets)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*.auto.tfvars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override files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override.tf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override.tf.json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IDE clutter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.idea/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*.swp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36592" y="1097280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36592" y="1097280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736592" y="1097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23560" y="1133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344168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binaries, machine-specific. Re-created by terraform init.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1627632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736592" y="1627632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736592" y="16276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23560" y="16642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1874520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resource IDs, IPs, and often passwords.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36592" y="2157984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736592" y="2157984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736592" y="2157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2194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*.tfstate.backup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404872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sensitivity as the state file.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2688336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4736592" y="2688336"/>
            <a:ext cx="82296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736592" y="2688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23560" y="27249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*.auto.tfvars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935224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contain credentials if auto-loaded.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6592" y="3218688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736592" y="3218688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736592" y="32186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32552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3465576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identical provider versions across the team.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749040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4736592" y="3749040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736592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356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 files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3995928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Terraform code belongs in source control.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4279392"/>
            <a:ext cx="41330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4736592" y="4279392"/>
            <a:ext cx="822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4736592" y="4279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23560" y="43159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0" y="4526280"/>
            <a:ext cx="3127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commit if it contains no secrets.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FOLDER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38912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38912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169664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terraform-project/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main.tf         # Resources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variables.tf    # Inputs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outputs.tf      # Outputs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versions.tf     # Provider pins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backend.tf      # Remote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terraform.tfvars# Var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networking/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main.tf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variables.tf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outputs.tf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environments/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dev/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staging/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prod/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64008" cy="466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065776" y="1143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65776" y="137160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Declares resources, data sources, module calls.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1636776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937760" y="1636776"/>
            <a:ext cx="64008" cy="46634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65776" y="16824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5776" y="191109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with type, description, default, and validation.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2176272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937760" y="2176272"/>
            <a:ext cx="64008" cy="4663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065776" y="22219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65776" y="2450592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values for other configs or team reference.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715768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937760" y="2715768"/>
            <a:ext cx="64008" cy="46634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065776" y="27614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0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versions.tf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65776" y="2990088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Terraform binary and provider plugin versions.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255264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937760" y="3255264"/>
            <a:ext cx="64008" cy="46634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065776" y="330098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backend.tf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65776" y="3529584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config — required for teams.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3794760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937760" y="3794760"/>
            <a:ext cx="64008" cy="4663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065776" y="38404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terraform.tfvars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65776" y="406908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 assignments per environment.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4334256"/>
            <a:ext cx="39319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4937760" y="4334256"/>
            <a:ext cx="64008" cy="4663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065776" y="437997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65776" y="460857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components. One module = one infrastructure unit.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MODEL CONTEXT PROTOCOL (MCP)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114800" cy="4023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(CLI)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3877056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 that runs in your terminal as a command-line tool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your codebase — reads files, runs commands, writes code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external tools and APIs via the MCP (Model Context Protocol)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local LLM backends (e.g. NVIDIA NIM) instead of only cloud APIs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plan, validate, and execute Terraform operations through the Terraform MCP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5152" y="1097280"/>
            <a:ext cx="4251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251960" cy="40233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3168" y="15727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883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protocol that lets AI models connect to external tools, data sources, and services through a standardised interface.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45059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681728" y="2450592"/>
            <a:ext cx="54864" cy="457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791456" y="2487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91456" y="268833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 (e.g. terraform plan) for the AI to 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299923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4681728" y="2999232"/>
            <a:ext cx="54864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791456" y="3035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91456" y="323697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acts as the client, calling server tools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354787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681728" y="3547872"/>
            <a:ext cx="54864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791456" y="3584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91456" y="378561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stdio or HTTP — no cloud required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4096512"/>
            <a:ext cx="4114800" cy="457200"/>
          </a:xfrm>
          <a:prstGeom prst="rect">
            <a:avLst/>
          </a:prstGeom>
          <a:solidFill>
            <a:srgbClr val="F8F8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681728" y="4096512"/>
            <a:ext cx="54864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791456" y="41330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4334256"/>
            <a:ext cx="3858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call terraform init, plan, apply via MCP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MCP SERVER — RUNNING WITH uv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114800" cy="40233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Terraform MCP Server Provides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3877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Terraform CLI operations as MCP tools that Claude Code can call directly: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terraform_init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working directory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terraform_plan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2532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review execution plan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1148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terraform_apply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2990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infrastructure changes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832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terraform_validate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34472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configuration syntax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8404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terraform_output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39044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output values from state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3931920" cy="384048"/>
          </a:xfrm>
          <a:prstGeom prst="rect">
            <a:avLst/>
          </a:prstGeom>
          <a:solidFill>
            <a:srgbClr val="F0FBF9"/>
          </a:solidFill>
          <a:ln w="12700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1148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terraform_state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31720" y="4361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manage state entries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5152" y="1097280"/>
            <a:ext cx="4251960" cy="374904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4645152" y="1097280"/>
            <a:ext cx="4251960" cy="40233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754880" y="10972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claude_desktop_config.json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36592" y="1554480"/>
            <a:ext cx="4041648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"terraform":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"uvx",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"terraform-mcp-server"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"TERRAFORM_CLI_PATH":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"/usr/local/bin/terraform"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directly with uv: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uvx terraform-mcp-server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install first: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tool install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terraform-mcp-server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PROXY — LOCAL LLM INFERENCE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8631936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(NVIDIA Inference Microservices) provides an OpenAI-compatible API endpoint that runs AI models locally on your GPU — no data leaves your machine.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87452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411480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NVIDIA NIM Proxy?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322576"/>
            <a:ext cx="387705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 models on local GPU — all data stays on your workstation (air-gapped)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REST API — Claude Code points to it as the model endpoint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models: Llama 3.x, Mistral, Qwen, CodeLlama, Deepseek Coder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this stack as the LLM backend that powers Claude Code reasoning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enterprise environments where cloud API calls are restricted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1874520"/>
            <a:ext cx="4251960" cy="2926080"/>
          </a:xfrm>
          <a:prstGeom prst="rect">
            <a:avLst/>
          </a:prstGeom>
          <a:solidFill>
            <a:srgbClr val="1E272E"/>
          </a:solidFill>
          <a:ln w="12700">
            <a:solidFill>
              <a:srgbClr val="1E272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45152" y="1874520"/>
            <a:ext cx="425196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→ NIM config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2322576"/>
            <a:ext cx="404164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Point Claude Code at NIM proxy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instead of Anthropic API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ANTHROPIC_BASE_URL=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http://localhost:8000/v1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in claude settings: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"api_base_url":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"http://localhost:8000/v1"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NIM (Docker):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--gpus all -p 8000:8000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nvcr.io/nim/meta/llama-3.1-8b-instruct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endpoint is live: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http://localhost:8000/v1/models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82296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097280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Terraform project needs:  main.tf  ·  variables.tf  ·  outputs.tf  ·  versions.tf  ·  backend.tf  ·  terraform.tfvars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1901952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creates .terraform/ and .terraform.lock.hcl — commit the lock file, never the folder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2706624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creates terraform.tfstate — the most critical file — store remotely, never in git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512064" cy="51206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3511296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always:  init → fmt → validate → plan → apply  — never skip reviewing the plan output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512064" cy="512064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4315968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Terraform MCP Server + NVIDIA NIM Proxy = AI-assisted IaC on your local machine with no data leaving your environment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INTEGRATION — THE COMPLETE AI-POWERED TERRAFORM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1965960" cy="1353312"/>
          </a:xfrm>
          <a:prstGeom prst="rect">
            <a:avLst/>
          </a:prstGeom>
          <a:solidFill>
            <a:srgbClr val="0D2137"/>
          </a:solidFill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196596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56032" y="10058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DEVELOPER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08176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natural language
prompts in terminal
No Terraform syntax
expertise needed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67128" y="1682496"/>
            <a:ext cx="384048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093976" y="1436914"/>
            <a:ext cx="539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51176" y="1005840"/>
            <a:ext cx="2331720" cy="1353312"/>
          </a:xfrm>
          <a:prstGeom prst="rect">
            <a:avLst/>
          </a:prstGeom>
          <a:solidFill>
            <a:srgbClr val="0D2137"/>
          </a:solidFill>
          <a:ln w="190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2551176" y="1005840"/>
            <a:ext cx="233172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633472" y="10058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CODE (CLI)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33472" y="140817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engine
Understands Terraform
Calls MCP tools
Runs on: Claude Sonnet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82896" y="1682496"/>
            <a:ext cx="457200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882896" y="145846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40096" y="1005840"/>
            <a:ext cx="2331720" cy="1353312"/>
          </a:xfrm>
          <a:prstGeom prst="rect">
            <a:avLst/>
          </a:prstGeom>
          <a:solidFill>
            <a:srgbClr val="0D2137"/>
          </a:solidFill>
          <a:ln w="1905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340096" y="1005840"/>
            <a:ext cx="2331720" cy="347472"/>
          </a:xfrm>
          <a:prstGeom prst="rect">
            <a:avLst/>
          </a:prstGeom>
          <a:solidFill>
            <a:srgbClr val="1A3A00"/>
          </a:solidFill>
          <a:ln w="12700">
            <a:solidFill>
              <a:srgbClr val="76B9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431536" y="10058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NVIDIA NIM PROXY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31536" y="1408176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
GPU-accelerated
OpenAI-compatible API
No cloud data egress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71816" y="1005840"/>
            <a:ext cx="1261872" cy="1353312"/>
          </a:xfrm>
          <a:prstGeom prst="rect">
            <a:avLst/>
          </a:prstGeom>
          <a:solidFill>
            <a:srgbClr val="1A1A2E"/>
          </a:solidFill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7671816" y="1005840"/>
            <a:ext cx="1261872" cy="347472"/>
          </a:xfrm>
          <a:prstGeom prst="rect">
            <a:avLst/>
          </a:prstGeom>
          <a:solidFill>
            <a:srgbClr val="311B92"/>
          </a:solidFill>
          <a:ln w="12700">
            <a:solidFill>
              <a:srgbClr val="311B9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735824" y="100584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35824" y="1408176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pkg
manager
Runs MCP
server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12464" y="2359152"/>
            <a:ext cx="0" cy="256032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474720" y="241532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51176" y="2615184"/>
            <a:ext cx="2331720" cy="1188720"/>
          </a:xfrm>
          <a:prstGeom prst="rect">
            <a:avLst/>
          </a:prstGeom>
          <a:solidFill>
            <a:srgbClr val="0D2137"/>
          </a:solidFill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2551176" y="2615184"/>
            <a:ext cx="2331720" cy="34747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2633472" y="261518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TERRAFORM MCP SERVER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33472" y="30175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Terraform CLI as AI tools
</a:t>
            </a:r>
            <a:r>
              <a:rPr lang="en-US" sz="8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Launched via:  uvx terraform-mcp-server
</a:t>
            </a:r>
            <a:r>
              <a:rPr lang="en-US" sz="9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init · plan · apply · validate · output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12464" y="3803904"/>
            <a:ext cx="0" cy="256032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310128" y="38496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51176" y="4059936"/>
            <a:ext cx="2331720" cy="877824"/>
          </a:xfrm>
          <a:prstGeom prst="rect">
            <a:avLst/>
          </a:prstGeom>
          <a:solidFill>
            <a:srgbClr val="0D2137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2551176" y="4059936"/>
            <a:ext cx="23317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2633472" y="405993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TERRAFORM CLI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33472" y="441655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.tf files · Manages state · Deploys infra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82896" y="4498848"/>
            <a:ext cx="129844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010912" y="4343400"/>
            <a:ext cx="1042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81344" y="4059936"/>
            <a:ext cx="2724912" cy="877824"/>
          </a:xfrm>
          <a:prstGeom prst="rect">
            <a:avLst/>
          </a:prstGeom>
          <a:solidFill>
            <a:srgbClr val="0D2137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6181344" y="4059936"/>
            <a:ext cx="2724912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6254496" y="40599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INFRASTRUCTURE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54496" y="441655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 ·  AWS  ·  GCP  ·  VMware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1168" y="2743200"/>
            <a:ext cx="1965960" cy="2194560"/>
          </a:xfrm>
          <a:prstGeom prst="rect">
            <a:avLst/>
          </a:prstGeom>
          <a:solidFill>
            <a:srgbClr val="0D2137"/>
          </a:solidFill>
          <a:ln w="190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201168" y="2743200"/>
            <a:ext cx="196596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27432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STATE MGMT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3127248"/>
            <a:ext cx="17830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
.terraform.lock.hcl
</a:t>
            </a: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Remote: Azure Blob
Locking: auto
</a:t>
            </a:r>
            <a:r>
              <a:rPr lang="en-US" sz="9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to git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54639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Tips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94173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Platform to Practice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55542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65D20E-B05A-A977-8DBA-A9600EC5D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31781"/>
              </p:ext>
            </p:extLst>
          </p:nvPr>
        </p:nvGraphicFramePr>
        <p:xfrm>
          <a:off x="935500" y="1335180"/>
          <a:ext cx="7164755" cy="3340316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3574797562"/>
                    </a:ext>
                  </a:extLst>
                </a:gridCol>
                <a:gridCol w="1937825">
                  <a:extLst>
                    <a:ext uri="{9D8B030D-6E8A-4147-A177-3AD203B41FA5}">
                      <a16:colId xmlns:a16="http://schemas.microsoft.com/office/drawing/2014/main" val="1141267328"/>
                    </a:ext>
                  </a:extLst>
                </a:gridCol>
                <a:gridCol w="1937825">
                  <a:extLst>
                    <a:ext uri="{9D8B030D-6E8A-4147-A177-3AD203B41FA5}">
                      <a16:colId xmlns:a16="http://schemas.microsoft.com/office/drawing/2014/main" val="1297619649"/>
                    </a:ext>
                  </a:extLst>
                </a:gridCol>
                <a:gridCol w="1937825">
                  <a:extLst>
                    <a:ext uri="{9D8B030D-6E8A-4147-A177-3AD203B41FA5}">
                      <a16:colId xmlns:a16="http://schemas.microsoft.com/office/drawing/2014/main" val="3940755232"/>
                    </a:ext>
                  </a:extLst>
                </a:gridCol>
              </a:tblGrid>
              <a:tr h="27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Cloud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454391"/>
                  </a:ext>
                </a:extLst>
              </a:tr>
              <a:tr h="681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 dirty="0" err="1"/>
                        <a:t>HashiCorp</a:t>
                      </a:r>
                      <a:r>
                        <a:rPr lang="en-AU" sz="1100" b="1" dirty="0"/>
                        <a:t> Sandbox</a:t>
                      </a:r>
                    </a:p>
                    <a:p>
                      <a:pPr>
                        <a:buNone/>
                      </a:pP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✅ 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LocalStack (AWS simulation)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008914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 dirty="0"/>
                        <a:t>AWS Free Tier</a:t>
                      </a:r>
                      <a:endParaRPr lang="en-AU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$200 credits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Real AWS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505814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GCP Free Trial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$300 credits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Real GCP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037885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Terraform CLI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Free Forever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Your 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Local/Real clouds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264294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Learn Git Branching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✅ 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Browser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952023"/>
                  </a:ext>
                </a:extLst>
              </a:tr>
              <a:tr h="477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b="1"/>
                        <a:t>GitHub Skills</a:t>
                      </a:r>
                      <a:endParaRPr lang="en-AU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✅ 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/>
                        <a:t>GitHub 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100" dirty="0"/>
                        <a:t>Browser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0366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80C98-3EE5-649D-EF12-B92337E1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262F9C-E7ED-8FA5-4EFF-58F8F29FABBF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1C514B-B70A-CD7E-3233-DBE09070D6EF}"/>
              </a:ext>
            </a:extLst>
          </p:cNvPr>
          <p:cNvSpPr/>
          <p:nvPr/>
        </p:nvSpPr>
        <p:spPr>
          <a:xfrm>
            <a:off x="640080" y="73855"/>
            <a:ext cx="783570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URL</a:t>
            </a:r>
            <a:endParaRPr lang="en-US" sz="5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392743-2E8C-B4F5-5B66-D39449455816}"/>
              </a:ext>
            </a:extLst>
          </p:cNvPr>
          <p:cNvSpPr/>
          <p:nvPr/>
        </p:nvSpPr>
        <p:spPr>
          <a:xfrm>
            <a:off x="548640" y="73838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 + AI STACK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4729F2-249F-2C13-3D23-5B6CFB19CEC8}"/>
              </a:ext>
            </a:extLst>
          </p:cNvPr>
          <p:cNvSpPr/>
          <p:nvPr/>
        </p:nvSpPr>
        <p:spPr>
          <a:xfrm>
            <a:off x="640080" y="1044529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6FF5E9-DB59-43FD-24CC-C3C83052CD3F}"/>
              </a:ext>
            </a:extLst>
          </p:cNvPr>
          <p:cNvSpPr/>
          <p:nvPr/>
        </p:nvSpPr>
        <p:spPr>
          <a:xfrm>
            <a:off x="640080" y="1703840"/>
            <a:ext cx="8046720" cy="3040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r>
              <a:rPr lang="en-AU" sz="115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Terraform Sandbox (BEST - No Setup Required) : </a:t>
            </a:r>
            <a:r>
              <a:rPr lang="en-AU" sz="1200" dirty="0"/>
              <a:t> </a:t>
            </a:r>
            <a:r>
              <a:rPr lang="en-AU" sz="1200" dirty="0">
                <a:hlinkClick r:id="rId3"/>
              </a:rPr>
              <a:t>https://developer.hashicorp.com/terraform/tutorials/sandbox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($200 Free Credits) : </a:t>
            </a:r>
            <a:r>
              <a:rPr lang="en-AU" sz="1200" dirty="0"/>
              <a:t> </a:t>
            </a:r>
            <a:r>
              <a:rPr lang="en-AU" sz="1200" dirty="0">
                <a:hlinkClick r:id="rId4"/>
              </a:rPr>
              <a:t>https://aws.amazon.com/free/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Free Trial ($300 Free Credits): </a:t>
            </a:r>
            <a:r>
              <a:rPr lang="en-AU" sz="1200" dirty="0"/>
              <a:t> </a:t>
            </a:r>
            <a:r>
              <a:rPr lang="en-AU" sz="1200" dirty="0">
                <a:hlinkClick r:id="rId5"/>
              </a:rPr>
              <a:t>https://cloud.google.com/free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Free Tier ($200 Free Credits) : </a:t>
            </a:r>
            <a:r>
              <a:rPr lang="en-AU" sz="1200" dirty="0"/>
              <a:t> </a:t>
            </a:r>
            <a:r>
              <a:rPr lang="en-AU" sz="1200" dirty="0">
                <a:hlinkClick r:id="rId6"/>
              </a:rPr>
              <a:t>https://azure.microsoft.com/en-au/free/</a:t>
            </a:r>
            <a:br>
              <a:rPr lang="en-AU" sz="1200" dirty="0"/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 Branching (Interactive &amp; Free): </a:t>
            </a:r>
            <a:r>
              <a:rPr lang="en-AU" sz="1200" dirty="0"/>
              <a:t> </a:t>
            </a:r>
            <a:r>
              <a:rPr lang="en-AU" sz="1200" dirty="0">
                <a:hlinkClick r:id="rId7"/>
              </a:rPr>
              <a:t>https://learngitbranching.js.org/</a:t>
            </a:r>
            <a:endParaRPr lang="en-AU" sz="1200" dirty="0"/>
          </a:p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Skills (Official - Interactive &amp; Free) : </a:t>
            </a:r>
            <a:r>
              <a:rPr lang="en-AU" sz="1200" dirty="0">
                <a:hlinkClick r:id="rId8"/>
              </a:rPr>
              <a:t>https://github.com/skills</a:t>
            </a:r>
            <a:endParaRPr lang="en-AU" sz="1200" dirty="0"/>
          </a:p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skill (Interactive &amp; Free) : https://killercoda.com/</a:t>
            </a:r>
          </a:p>
          <a:p>
            <a:endParaRPr lang="en-AU" sz="1200" dirty="0"/>
          </a:p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CLI (Open Source - 100% Free Forever)</a:t>
            </a: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terraform.io/docs  —  Official Terraform documentation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developer.hashicorp.com/terraform/tutorials  —  Hands-on labs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docs.anthropic.com/claude-code  —  Claude Code documentation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build.nvidia.com  —  NVIDIA NIM model catalogue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modelcontextprotocol.io  —  MCP specification and servers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registry.terraform.io  —  Provider and module registry</a:t>
            </a:r>
            <a:b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Terraform .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template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endParaRPr lang="en-US" sz="1150" dirty="0">
              <a:solidFill>
                <a:srgbClr val="90C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05F196-66F4-7D37-1287-97AF053729AF}"/>
              </a:ext>
            </a:extLst>
          </p:cNvPr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1551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97177-1E58-660D-06D3-7DE63A18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75EA69-C01E-D542-E5EB-D0D847D467B5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CC1475-FB2C-3ECB-A92B-F6303B121C20}"/>
              </a:ext>
            </a:extLst>
          </p:cNvPr>
          <p:cNvSpPr/>
          <p:nvPr/>
        </p:nvSpPr>
        <p:spPr>
          <a:xfrm>
            <a:off x="640080" y="73855"/>
            <a:ext cx="783570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Tricks</a:t>
            </a:r>
            <a:endParaRPr lang="en-US" sz="5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D33C2F-F4CC-2CD6-D268-B6A449C7A0E8}"/>
              </a:ext>
            </a:extLst>
          </p:cNvPr>
          <p:cNvSpPr/>
          <p:nvPr/>
        </p:nvSpPr>
        <p:spPr>
          <a:xfrm>
            <a:off x="548640" y="136855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 err="1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Extensions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95C597-F1D8-A6FF-215D-1347CD20F94E}"/>
              </a:ext>
            </a:extLst>
          </p:cNvPr>
          <p:cNvSpPr/>
          <p:nvPr/>
        </p:nvSpPr>
        <p:spPr>
          <a:xfrm>
            <a:off x="640080" y="1044529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18FF77-03B9-CD0D-6DD9-C2481BC1323F}"/>
              </a:ext>
            </a:extLst>
          </p:cNvPr>
          <p:cNvSpPr/>
          <p:nvPr/>
        </p:nvSpPr>
        <p:spPr>
          <a:xfrm>
            <a:off x="640080" y="1408594"/>
            <a:ext cx="8046720" cy="3040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Share</a:t>
            </a:r>
            <a:r>
              <a:rPr lang="en-US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to share your screen with another developer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r>
              <a:rPr lang="en-US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to Open a webpage live</a:t>
            </a: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Preview </a:t>
            </a:r>
            <a:r>
              <a:rPr lang="en-AU" sz="11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Styling</a:t>
            </a:r>
            <a:r>
              <a:rPr lang="en-AU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preview your md file.</a:t>
            </a: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– SSH</a:t>
            </a:r>
            <a:r>
              <a:rPr lang="en-AU" sz="11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Linux server in VSCODE for GUI feel.</a:t>
            </a: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AU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r>
              <a:rPr lang="en-AU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 show help for YAML format</a:t>
            </a:r>
            <a:endParaRPr lang="en-US" sz="1150" dirty="0">
              <a:solidFill>
                <a:srgbClr val="90CA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92EEB2-8DF5-7458-8045-748234B92D40}"/>
              </a:ext>
            </a:extLst>
          </p:cNvPr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9919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A765D-6BB4-6328-E147-94CAB993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A86F4C-3A8A-4833-342E-02AE57BFD583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FD1024-C679-FDDD-0F62-885E0E597B25}"/>
              </a:ext>
            </a:extLst>
          </p:cNvPr>
          <p:cNvSpPr/>
          <p:nvPr/>
        </p:nvSpPr>
        <p:spPr>
          <a:xfrm>
            <a:off x="2346960" y="1725930"/>
            <a:ext cx="7835705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F1D212-0AD9-0C89-D8EA-CBDDA74FED26}"/>
              </a:ext>
            </a:extLst>
          </p:cNvPr>
          <p:cNvSpPr/>
          <p:nvPr/>
        </p:nvSpPr>
        <p:spPr>
          <a:xfrm>
            <a:off x="548640" y="73838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 + AI STACK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B2BAEC-9A1A-A65C-471F-731E1E74CCF9}"/>
              </a:ext>
            </a:extLst>
          </p:cNvPr>
          <p:cNvSpPr/>
          <p:nvPr/>
        </p:nvSpPr>
        <p:spPr>
          <a:xfrm>
            <a:off x="640080" y="1044529"/>
            <a:ext cx="8229600" cy="3657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B64770-26A0-C79C-37BE-07725003F915}"/>
              </a:ext>
            </a:extLst>
          </p:cNvPr>
          <p:cNvSpPr/>
          <p:nvPr/>
        </p:nvSpPr>
        <p:spPr>
          <a:xfrm>
            <a:off x="6400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Team  |  Internal Training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46578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</TotalTime>
  <Words>3100</Words>
  <Application>Microsoft Office PowerPoint</Application>
  <PresentationFormat>On-screen Show (16:9)</PresentationFormat>
  <Paragraphs>535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Fundamentals + AI Stack</dc:title>
  <dc:subject>PptxGenJS Presentation</dc:subject>
  <dc:creator>Infrastructure Team</dc:creator>
  <cp:lastModifiedBy>Balraj Singh</cp:lastModifiedBy>
  <cp:revision>1</cp:revision>
  <dcterms:created xsi:type="dcterms:W3CDTF">2026-05-26T20:05:45Z</dcterms:created>
  <dcterms:modified xsi:type="dcterms:W3CDTF">2026-05-28T02:40:59Z</dcterms:modified>
</cp:coreProperties>
</file>